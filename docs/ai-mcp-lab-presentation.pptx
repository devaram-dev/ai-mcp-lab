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103120" cy="41148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AI Concepts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F172A"/>
                </a:solidFill>
                <a:latin typeface="Calibri"/>
              </a:rPr>
              <a:t>From REST to AI: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028090"/>
                </a:solidFill>
                <a:latin typeface="Calibri"/>
              </a:rPr>
              <a:t>Letting Claude Query Our HR Data Directly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183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1">
                <a:solidFill>
                  <a:srgbClr val="475569"/>
                </a:solidFill>
                <a:latin typeface="Calibri"/>
              </a:rPr>
              <a:t>Exposing Spring Boot business logic to AI clients via MCP —</a:t>
            </a:r>
          </a:p>
          <a:p>
            <a:pPr algn="ctr">
              <a:lnSpc>
                <a:spcPct val="130000"/>
              </a:lnSpc>
            </a:pPr>
            <a:r>
              <a:rPr sz="1800" b="0" i="1">
                <a:solidFill>
                  <a:srgbClr val="475569"/>
                </a:solidFill>
                <a:latin typeface="Calibri"/>
              </a:rPr>
              <a:t>one backend, multiple AI assistants, zero code duplication.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4663" y="4937760"/>
            <a:ext cx="1828800" cy="77724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4663" y="49377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E40AF"/>
                </a:solidFill>
                <a:latin typeface="Calibri"/>
              </a:rPr>
              <a:t>👤  </a:t>
            </a:r>
            <a:r>
              <a:rPr sz="1600" b="1" i="0">
                <a:solidFill>
                  <a:srgbClr val="1E40AF"/>
                </a:solidFill>
                <a:latin typeface="Calibri"/>
              </a:rP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8055" y="4937760"/>
            <a:ext cx="1828800" cy="77724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8055" y="49377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6D28D9"/>
                </a:solidFill>
                <a:latin typeface="Calibri"/>
              </a:rPr>
              <a:t>💬  </a:t>
            </a:r>
            <a:r>
              <a:rPr sz="1600" b="1" i="0">
                <a:solidFill>
                  <a:srgbClr val="6D28D9"/>
                </a:solidFill>
                <a:latin typeface="Calibri"/>
              </a:rPr>
              <a:t>AI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1447" y="4937760"/>
            <a:ext cx="1828800" cy="77724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1447" y="49377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65F46"/>
                </a:solidFill>
                <a:latin typeface="Calibri"/>
              </a:rPr>
              <a:t>🔌  </a:t>
            </a:r>
            <a:r>
              <a:rPr sz="1600" b="1" i="0">
                <a:solidFill>
                  <a:srgbClr val="065F46"/>
                </a:solidFill>
                <a:latin typeface="Calibri"/>
              </a:rPr>
              <a:t>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4839" y="4937760"/>
            <a:ext cx="1828800" cy="77724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4839" y="49377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☕ 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Spring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8231" y="4937760"/>
            <a:ext cx="1828800" cy="77724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8231" y="4937760"/>
            <a:ext cx="1828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92400E"/>
                </a:solidFill>
                <a:latin typeface="Calibri"/>
              </a:rPr>
              <a:t>🗄️  </a:t>
            </a:r>
            <a:r>
              <a:rPr sz="1600" b="1" i="0">
                <a:solidFill>
                  <a:srgbClr val="92400E"/>
                </a:solidFill>
                <a:latin typeface="Calibri"/>
              </a:rPr>
              <a:t>MySQL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41751.5" y="5326380.0"/>
            <a:ext cx="128016.0" cy="0.0"/>
          </a:xfrm>
          <a:prstGeom prst="bentConnector3">
            <a:avLst/>
          </a:prstGeom>
          <a:ln w="28575">
            <a:solidFill>
              <a:srgbClr val="02809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35143.5" y="5326380.0"/>
            <a:ext cx="128016.0" cy="0.0"/>
          </a:xfrm>
          <a:prstGeom prst="bentConnector3">
            <a:avLst/>
          </a:prstGeom>
          <a:ln w="28575">
            <a:solidFill>
              <a:srgbClr val="02809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28535.5" y="5326380.0"/>
            <a:ext cx="128016.0" cy="0.0"/>
          </a:xfrm>
          <a:prstGeom prst="bentConnector3">
            <a:avLst/>
          </a:prstGeom>
          <a:ln w="28575">
            <a:solidFill>
              <a:srgbClr val="02809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21927.5" y="5326380.0"/>
            <a:ext cx="128016.0" cy="0.0"/>
          </a:xfrm>
          <a:prstGeom prst="bentConnector3">
            <a:avLst/>
          </a:prstGeom>
          <a:ln w="28575">
            <a:solidFill>
              <a:srgbClr val="02809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Pain: Every New Consumer = New API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Custom integrations don't scale. Every new client = another bespoke contract.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❌  TODAY  —  every consumer is a custom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500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5000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3172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91B1B"/>
                </a:solidFill>
                <a:latin typeface="Calibri"/>
              </a:rPr>
              <a:t>→  REST API contract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9008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900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7180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Web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718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91B1B"/>
                </a:solidFill>
                <a:latin typeface="Calibri"/>
              </a:rPr>
              <a:t>→  REST API contract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01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3016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Reports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61188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91B1B"/>
                </a:solidFill>
                <a:latin typeface="Calibri"/>
              </a:rPr>
              <a:t>→  CSV export endpoint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70247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0247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51959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AI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251959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91B1B"/>
                </a:solidFill>
                <a:latin typeface="Calibri"/>
              </a:rPr>
              <a:t>→  ??? custom integration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103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91032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9204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Voice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8920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991B1B"/>
                </a:solidFill>
                <a:latin typeface="Calibri"/>
              </a:rPr>
              <a:t>→  ??? yet another integration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55448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55448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✅  WITH MCP  —  one bridge, many consumers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31720"/>
            <a:ext cx="4846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F46"/>
                </a:solidFill>
                <a:latin typeface="Calibri"/>
              </a:rPr>
              <a:t>Same Spring Boot service exposes: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99008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900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9718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REST endpoints (existing)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297180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F46"/>
                </a:solidFill>
                <a:latin typeface="Calibri"/>
              </a:rPr>
              <a:t>Mobile, Web, Reports — keep working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6301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63016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6118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MCP tools (new)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61188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F46"/>
                </a:solidFill>
                <a:latin typeface="Calibri"/>
              </a:rPr>
              <a:t>Add AI clients without API rewrites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270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27024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🖱️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2519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Cursor 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4251960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F46"/>
                </a:solidFill>
                <a:latin typeface="Calibri"/>
              </a:rPr>
              <a:t>Your editor talks to your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910327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910327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4892039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Claude Desktop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4892039"/>
            <a:ext cx="20116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F46"/>
                </a:solidFill>
                <a:latin typeface="Calibri"/>
              </a:rPr>
              <a:t>Plus ChatGPT and any future MCP-aware 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897880"/>
            <a:ext cx="11183112" cy="50292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Build once. Expose to AI as a first-class consumer.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What is MCP? (in 30 seconds)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Anthropic's open protocol for AI clients to discover and call tools — like a USB-C port for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727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727" y="1874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Calibri"/>
              </a:rPr>
              <a:t>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247" y="1920240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28090"/>
                </a:solidFill>
                <a:latin typeface="Calibri"/>
              </a:rPr>
              <a:t>The 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69748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USB-C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30632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One port. Any device.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3410712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Laptop, phone, monitor, drive.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4023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Calibri"/>
              </a:rPr>
              <a:t>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43891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One protocol. Any AI client.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" y="4736592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Cursor, Claude, ChatGPT, future.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47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9927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9927" y="1874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Calibri"/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1920240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D28D9"/>
                </a:solidFill>
                <a:latin typeface="Calibri"/>
              </a:rPr>
              <a:t>The handshake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1367" y="2697480"/>
            <a:ext cx="128016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367" y="2697480"/>
            <a:ext cx="12801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AI 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5887" y="2697480"/>
            <a:ext cx="128016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7" y="2697480"/>
            <a:ext cx="12801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MCP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647" y="3383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→  tools/list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647" y="38862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←  list of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647" y="4389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→  tools/call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5647" y="4892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← 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367" y="521208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Discover. Call. Done.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3247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6127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6127" y="1874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Calibri"/>
              </a:rP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7647" y="1920240"/>
            <a:ext cx="2651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65F46"/>
                </a:solidFill>
                <a:latin typeface="Calibri"/>
              </a:rPr>
              <a:t>What we expose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7567" y="269748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Tools — actions AI can invoke (we have 11)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7567" y="32461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Schemas — what each tool accepts/returns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567" y="379476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Results — JSON back to the AI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7567" y="4343399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Underneath: standard JSON-RPC 2.0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4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If your AI client speaks MCP, it can use any MCP server. Including ours.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Our Use Case: Querying HR Data in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Same Spring Boot service. Same MySQL. Same business rules. Now AI-accessible.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" y="18516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18516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"/>
              </a:rPr>
              <a:t>🗄️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56232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MySQL  —  ai_mcp_lab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Departments  (3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onsolas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onsola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onsolas"/>
              </a:rPr>
              <a:t>location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56032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2560320"/>
            <a:ext cx="2286000" cy="41148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560320"/>
            <a:ext cx="2286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Employees  (5+ rows)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onsolas"/>
              </a:rPr>
              <a:t>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310128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onsolas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602736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onsolas"/>
              </a:rPr>
              <a:t>departmentId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895344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onsolas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187952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F172A"/>
                </a:solidFill>
                <a:latin typeface="Consolas"/>
              </a:rPr>
              <a:t>salary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4937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Tiny but realistic — we're showing the pattern, not the data scale.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69164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9380" y="18516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9380" y="18516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1856232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D28D9"/>
                </a:solidFill>
                <a:latin typeface="Calibri"/>
              </a:rPr>
              <a:t>Sample prompts to Cursor / Claude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2560320"/>
            <a:ext cx="493776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56032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How many employees do we have?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063240"/>
            <a:ext cx="493776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06324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Tell me about employee Meera Iyer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566160"/>
            <a:ext cx="493776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56616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Who's the highest paid in Engineering?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4069080"/>
            <a:ext cx="493776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06908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List employees in Sales department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4572000"/>
            <a:ext cx="493776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57200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Add Rahul Joshi to Marketing, salary 80000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486400"/>
            <a:ext cx="11183112" cy="50292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486400"/>
            <a:ext cx="10881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C39A"/>
                </a:solidFill>
                <a:latin typeface="Calibri"/>
              </a:rPr>
              <a:t>🔧  Tools exposed:  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Employee: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list | get | create | update | delete  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Department: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list | get | create | update | delete  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getDatabaseStatus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Identical Java repository code serves both REST endpoints AND MCP tools. No duplication.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Tech Stack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Standard Spring Boot + a thin MCP integration layer. Nothing exotic.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3999" y="169164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3999" y="169164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6879" y="17830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879" y="17830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239" y="1746504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40AF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599" y="256032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Java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599" y="320040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Spring Boot 3.2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" y="384048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Spring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199" y="413308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REST 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599" y="4480559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Spring JDBC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199" y="4773167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JdbcTemplate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599" y="512064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Maven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199" y="541324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6071" y="169164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16071" y="169164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98951" y="17830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8951" y="17830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3311" y="1746504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D28D9"/>
                </a:solidFill>
                <a:latin typeface="Calibri"/>
              </a:rPr>
              <a:t>MCP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4671" y="256032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MCP Java SDK 0.9.0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3271" y="285292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io.modelcontextprotocol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4671" y="320040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Stdio transport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3271" y="349300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Cursor child-spawn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4671" y="384048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HTTP/SSE transport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3271" y="413308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UAT / network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4671" y="4480559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LoggingStdio wrapper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3271" y="4773167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wire visibility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8143" y="169164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8143" y="169164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61023" y="17830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7830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5383" y="1746504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2400E"/>
                </a:solidFill>
                <a:latin typeface="Calibri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6743" y="256032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MySQL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6743" y="320040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HikariCP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5343" y="349300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connection pool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6743" y="384048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schema.sql / data.sql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5343" y="413308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Spring Boot auto-init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40215" y="1691640"/>
            <a:ext cx="2697480" cy="4023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40215" y="169164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23095" y="17830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23095" y="17830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17455" y="1746504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F46"/>
                </a:solidFill>
                <a:latin typeface="Calibri"/>
              </a:rPr>
              <a:t>AI Clients tested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8815" y="256032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65F46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Cursor 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7415" y="285292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stdio 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8815" y="320040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65F46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MCP Inspector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97415" y="349300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for debugging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8815" y="384048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65F46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Claude Desktop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97415" y="4133088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compatible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8815" y="4480559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65F46"/>
                </a:solidFill>
                <a:latin typeface="Calibri"/>
              </a:rPr>
              <a:t>● 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Future MCP-aware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7415" y="4773167"/>
            <a:ext cx="2057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no changes needed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 new framework to learn. Just one Spring Boot module + ~200 lines of MCP wiring.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High-Level Architecture: One Backend, Two Doors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REST clients and AI clients reach the same Spring Boot service through different protocols.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00200"/>
            <a:ext cx="4114800" cy="8686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Traditional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7490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E40AF"/>
                </a:solidFill>
                <a:latin typeface="Calibri"/>
              </a:rPr>
              <a:t>💻  Web browser    📱  Mobile app    🔄 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295" y="1600200"/>
            <a:ext cx="4114800" cy="86868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13258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AI 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8175" y="1600200"/>
            <a:ext cx="37490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D28D9"/>
                </a:solidFill>
                <a:latin typeface="Calibri"/>
              </a:rPr>
              <a:t>🖱️  Cursor IDE    🤖  Claude Desktop    🔍  MCP Inspector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.0" y="2468880"/>
            <a:ext cx="0.0" cy="457200"/>
          </a:xfrm>
          <a:prstGeom prst="bentConnector3">
            <a:avLst/>
          </a:prstGeom>
          <a:ln w="28575">
            <a:solidFill>
              <a:srgbClr val="1E40A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31720" y="25146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HTTP / REST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62695.0" y="2468880"/>
            <a:ext cx="0.0" cy="457200"/>
          </a:xfrm>
          <a:prstGeom prst="bentConnector3">
            <a:avLst/>
          </a:prstGeom>
          <a:ln w="28575">
            <a:solidFill>
              <a:srgbClr val="6D28D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99655" y="251460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MCP — stdio or HTTP/SSE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26080"/>
            <a:ext cx="10360152" cy="21031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587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☕  Spring Boot — ai-mcp-lab.jar  (port 8080)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383280"/>
            <a:ext cx="4297680" cy="6858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383280"/>
            <a:ext cx="42976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E40AF"/>
                </a:solidFill>
                <a:latin typeface="Calibri"/>
              </a:rPr>
              <a:t>🌐  REST Controllers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EmployeeController · DepartmentController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11112" y="3383280"/>
            <a:ext cx="4297680" cy="6858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3383280"/>
            <a:ext cx="42976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6D28D9"/>
                </a:solidFill>
                <a:latin typeface="Calibri"/>
              </a:rPr>
              <a:t>🔌  MCP Tools  (11)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EmployeeTool · DepartmentTool · DatabaseStatusTool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1276" y="4251960"/>
            <a:ext cx="5486400" cy="59436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25400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1276" y="4251960"/>
            <a:ext cx="54864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65F46"/>
                </a:solidFill>
                <a:latin typeface="Calibri"/>
              </a:rPr>
              <a:t>📦  Shared Repositories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EmployeeRepository · DepartmentRepository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29000.0" y="4069080"/>
            <a:ext cx="1568196.0" cy="182880"/>
          </a:xfrm>
          <a:prstGeom prst="bentConnector3">
            <a:avLst/>
          </a:prstGeom>
          <a:ln w="19050">
            <a:solidFill>
              <a:srgbClr val="0F17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191756.0" y="4069080"/>
            <a:ext cx="1568196.0" cy="182880"/>
          </a:xfrm>
          <a:prstGeom prst="bentConnector3">
            <a:avLst/>
          </a:prstGeom>
          <a:ln w="19050">
            <a:solidFill>
              <a:srgbClr val="0F17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4476.0" y="5029200"/>
            <a:ext cx="0.0" cy="146304"/>
          </a:xfrm>
          <a:prstGeom prst="bentConnector3">
            <a:avLst/>
          </a:prstGeom>
          <a:ln w="19050">
            <a:solidFill>
              <a:srgbClr val="0F17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95647" y="5193792"/>
            <a:ext cx="3200400" cy="5029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5647" y="5193792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92400E"/>
                </a:solidFill>
                <a:latin typeface="Calibri"/>
              </a:rPr>
              <a:t>🐬  MySQL  ·  ai_mcp_lab 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989320"/>
            <a:ext cx="11183112" cy="45720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2C39A"/>
                </a:solidFill>
                <a:latin typeface="Calibri"/>
              </a:rPr>
              <a:t>🔑  Two doors, one room: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REST + MCP both call the same repositories → same SQL, same data, zero duplication.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Logging: Seeing What's Going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Standard Spring logging + a careful twist for MCP stdio mode (where stdout IS the protocol).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1691640"/>
            <a:ext cx="3657600" cy="35204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727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727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087" y="18288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F46"/>
                </a:solidFill>
                <a:latin typeface="Calibri"/>
              </a:rPr>
              <a:t>Standard Spring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560320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Logback (Spring Boot 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2907792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Per-package levels: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3255264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com.mcplab →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3602736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spring.jdbc.core → DEBUG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3950208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io.modelcontextprotocol → 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" y="4297680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Works for REST out of the box.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47" y="1691640"/>
            <a:ext cx="3657600" cy="3520440"/>
          </a:xfrm>
          <a:prstGeom prst="roundRect">
            <a:avLst>
              <a:gd name="adj" fmla="val 5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9927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9927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4287" y="18288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45309"/>
                </a:solidFill>
                <a:latin typeface="Calibri"/>
              </a:rPr>
              <a:t>The MCP stdio twist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2560320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STDOUT carries JSON-RPC.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2907792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Logging to stdout corrupts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3255264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the protocol stream.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67" y="3602736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Fix: route logs to STDERR via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367" y="3950208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application-mcp.properties: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367" y="4297680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banner-mode = 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1367" y="4645152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level.root = WARN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3247" y="1691640"/>
            <a:ext cx="3657600" cy="352044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6127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6127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0487" y="18288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D28D9"/>
                </a:solidFill>
                <a:latin typeface="Calibri"/>
              </a:rPr>
              <a:t>Wire-level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567" y="2560320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LoggingStdioTransportProvider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7567" y="2907792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(custom wrapper around SDK)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7567" y="3255264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Every JSON-RPC line on STDERR: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7567" y="3602736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&gt;&gt;&gt; MCP IN  {...}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567" y="3950208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&lt;&lt;&lt; MCP OUT {...}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7567" y="4297680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See exactly what AI sends/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7567" y="4645152"/>
            <a:ext cx="310896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receives.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13832"/>
            <a:ext cx="10817352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C39A"/>
                </a:solidFill>
                <a:latin typeface="Calibri"/>
              </a:rPr>
              <a:t>🛡️  Build markers for runtime verification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log.info("McpServerConfig loaded @ {}", Instant.now())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log.info("[MCP] stdio transport bean created (profile=mcp)")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log.info("[MCP] MCP server built — 11 tools registered")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What Broke (Part 1) — Spring Boot Foundation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Real bugs from the build. Each one has a generalizable production lesson.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6275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9155" y="1874520"/>
            <a:ext cx="502920" cy="5029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9155" y="18745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4955" y="187452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2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Beans not found. Controllers not auto-discovered at startup.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4955" y="283464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2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@SpringBootApplication scans only its own package + sub-packages. AiMcpLabApplication sat in com.mcplab.server (siblings invisible).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4955" y="379476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2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Moved AiMcpLabApplication.java from com.mcplab.server → com.mcplab (root). All sibling packages now scanned.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4955" y="475488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2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The package containing @SpringBootApplication = the scan root. Plan package layout accordingly.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4187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27067" y="1874520"/>
            <a:ext cx="502920" cy="5029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7067" y="18745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2867" y="187452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2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Stdio mode: Cursor showed garbled output / connection failed.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2867" y="283464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2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Tomcat banner + Spring INFO logs polluted STDOUT, corrupting the JSON-RPC protocol stream.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867" y="379476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2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Created application-mcp.properties: web-application-type=none, banner-mode=off, level.root=WARN.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2867" y="475488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2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In stdio mode, STDOUT is sacred — it IS the protocol. Anything else goes to STDERR.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2099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4979" y="1874520"/>
            <a:ext cx="502920" cy="5029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4979" y="18745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0779" y="187452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2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Manually inserted MySQL rows vanished on every JAR restart.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0779" y="283464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2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spring.sql.init.mode=always + DROP TABLE in schema.sql = clean slate every boot.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0779" y="379476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2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Set spring.sql.init.mode=never in application-mcp(-http).properties. Default profile keeps 'always'.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0779" y="475488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2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Pick init mode per environment: 'always' for lab freshness, 'never' to preserve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(continued in Part 2 — MCP-specific gotchas)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What Broke (Part 2) — MCP-Specific Gotchas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Bugs unique to MCP integration: protocol routing &amp; AI tool discoverability.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707" y="1691640"/>
            <a:ext cx="5577840" cy="402336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6587" y="1874520"/>
            <a:ext cx="502920" cy="5029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587" y="18745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2387" y="1874520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2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GET /sse returned 404 'No static resource sse' in HTTP/SSE mode.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2387" y="2788920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2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Spring's DispatcherServlet (mapped at /*) intercepted /sse before the MCP servlet could see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2387" y="3703320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2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Added explicit ServletRegistrationBean for the MCP transport at /sse and /mcp/messages, with setLoadOnStartup(1) so it wins path matching.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2387" y="4617720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2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When two servlets compete for a URL, ServletRegistrationBean with loadOnStartup wins. Without it, DispatcherServlet's /* eats everything.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691640"/>
            <a:ext cx="5577840" cy="402336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3027" y="1874520"/>
            <a:ext cx="502920" cy="5029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3027" y="18745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8827" y="1874520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2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Asked AI 'tell about Meera Iyer' — AI ignored MCP tools, asked for clarification.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8827" y="2788920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2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Tool descriptions said WHAT they return, not WHEN to use them. AI couldn't connect 'Meera Iyer' → 'listEmployees' semantically.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8827" y="3703320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2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Two fixes: (a) be explicit — 'Tell me about employee Meera Iyer'. (b) Rewrite tool descriptions with WHEN-to-use trigger phrases.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8827" y="4617720"/>
            <a:ext cx="45262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2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Tool descriptions are the AI's routing menu. Write them as triggers, not as data shape descriptions.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97880"/>
            <a:ext cx="11183112" cy="502920"/>
          </a:xfrm>
          <a:prstGeom prst="roundRect">
            <a:avLst>
              <a:gd name="adj" fmla="val 4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2C39A"/>
                </a:solidFill>
                <a:latin typeface="Calibri"/>
              </a:rPr>
              <a:t>🎯  Big lesson: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Layer-by-layer debugging beats whole-stack guessing. Test DB → JAR → transport → AI client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What this work means for our team &amp; where AI tooling fits in our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1691640"/>
            <a:ext cx="3657600" cy="26060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007" y="18288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0F172A"/>
                </a:solidFill>
                <a:latin typeface="Calibri"/>
              </a:rP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1874520"/>
            <a:ext cx="2560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65F46"/>
                </a:solidFill>
                <a:latin typeface="Calibri"/>
              </a:rPr>
              <a:t>MCP = USB-C for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651760"/>
            <a:ext cx="310896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One protocol. Many AI consumers (Cursor, Claude, ChatGPT, future). Existing Spring Boot services can speak it without rewriting business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1691640"/>
            <a:ext cx="3657600" cy="2606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4207" y="18288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207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0F172A"/>
                </a:solidFill>
                <a:latin typeface="Calibri"/>
              </a:rPr>
              <a:t>🏗️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7167" y="1874520"/>
            <a:ext cx="2560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40AF"/>
                </a:solidFill>
                <a:latin typeface="Calibri"/>
              </a:rPr>
              <a:t>Two doors, one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651760"/>
            <a:ext cx="310896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REST controllers + MCP tools share the SAME repositories. No duplication. No drift. AI is just another consumer of data we already serve.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247" y="1691640"/>
            <a:ext cx="3657600" cy="260604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90407" y="18288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407" y="1828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0F172A"/>
                </a:solidFill>
                <a:latin typeface="Calibri"/>
              </a:rP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3367" y="1874520"/>
            <a:ext cx="2560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D28D9"/>
                </a:solidFill>
                <a:latin typeface="Calibri"/>
              </a:rPr>
              <a:t>Profile-driven flexibility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7567" y="2651760"/>
            <a:ext cx="310896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ONE jar runs in 3 modes: default (REST only), mcp (stdio), mcp-http (HTTP/SSE). Same code, different doors. Ops decides which to open.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72000"/>
            <a:ext cx="11183112" cy="1417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" y="46863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" y="46863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90872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What's next on my AI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591" y="5257800"/>
            <a:ext cx="2103120" cy="50292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591" y="525780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1" i="0">
                <a:solidFill>
                  <a:srgbClr val="065F46"/>
                </a:solidFill>
                <a:latin typeface="Calibri"/>
              </a:rPr>
              <a:t>MCP Protocol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1439" y="5257800"/>
            <a:ext cx="2103120" cy="50292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1439" y="525780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1" i="0">
                <a:solidFill>
                  <a:srgbClr val="065F46"/>
                </a:solidFill>
                <a:latin typeface="Calibri"/>
              </a:rPr>
              <a:t>AI Sandboxes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4287" y="5257800"/>
            <a:ext cx="2103120" cy="502920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4287" y="525780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D28D9"/>
                </a:solidFill>
                <a:latin typeface="Calibri"/>
              </a:rPr>
              <a:t>→  </a:t>
            </a:r>
            <a:r>
              <a:rPr sz="1300" b="1" i="0">
                <a:solidFill>
                  <a:srgbClr val="6D28D9"/>
                </a:solidFill>
                <a:latin typeface="Calibri"/>
              </a:rPr>
              <a:t>RAG with Spring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57135" y="5257800"/>
            <a:ext cx="2103120" cy="502920"/>
          </a:xfrm>
          <a:prstGeom prst="roundRect">
            <a:avLst>
              <a:gd name="adj" fmla="val 4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57135" y="525780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Calibri"/>
              </a:rPr>
              <a:t>→  </a:t>
            </a:r>
            <a:r>
              <a:rPr sz="1300" b="1" i="0">
                <a:solidFill>
                  <a:srgbClr val="475569"/>
                </a:solidFill>
                <a:latin typeface="Calibri"/>
              </a:rPr>
              <a:t>Spring AI 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9983" y="5257800"/>
            <a:ext cx="2103120" cy="502920"/>
          </a:xfrm>
          <a:prstGeom prst="roundRect">
            <a:avLst>
              <a:gd name="adj" fmla="val 4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9983" y="525780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Calibri"/>
              </a:rPr>
              <a:t>→  </a:t>
            </a:r>
            <a:r>
              <a:rPr sz="1300" b="1" i="0">
                <a:solidFill>
                  <a:srgbClr val="475569"/>
                </a:solidFill>
                <a:latin typeface="Calibri"/>
              </a:rPr>
              <a:t>Function Calling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80760"/>
            <a:ext cx="11274552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028090"/>
                </a:solidFill>
                <a:latin typeface="Calibri"/>
              </a:rPr>
              <a:t>Questions? Or want to try our MCP server with your Cursor right now?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